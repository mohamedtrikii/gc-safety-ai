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360152" cy="4389120"/>
          </a:xfrm>
          <a:prstGeom prst="rect">
            <a:avLst/>
          </a:prstGeom>
          <a:solidFill>
            <a:srgbClr val="0D1B35"/>
          </a:solidFill>
          <a:ln w="12700"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GC Safety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8EF7"/>
                </a:solidFill>
                <a:latin typeface="Calibri"/>
              </a:rPr>
              <a:t>Prédiction de Risque Chantier par Intelligence Artificielle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11274552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Système hybride ML + NLP · MLP Neural Network · F1-Score 88.84%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703320"/>
            <a:ext cx="16459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703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🏗️ Génie Civil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703320"/>
            <a:ext cx="1645920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703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🤖 Machine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703320"/>
            <a:ext cx="164592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703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📊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3703320"/>
            <a:ext cx="16459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703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⚡ Python 3.10+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2453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Institut Supérieur des Études Technologiques  ·  Année 2024–2025  ·  Projet de Fin d'Études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⚠️ 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Le secteur BTP face au risque accidentel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5661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🇹🇳
Contexte
Tunisien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3017520" cy="12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Les accidents du travail dans le BTP figurent parmi les plus fréquents tous secteurs confondus en Tunisie.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56616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3566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371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🔍
Causes
Identifiées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148840"/>
            <a:ext cx="301752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2402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Absence ou non-conformité des EPI · Conditions météo extrêmes · Travail en hauteur · Sur-effectif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56616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56616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371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  <a:latin typeface="Calibri"/>
              </a:rPr>
              <a:t>❌
Problème
Central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48840"/>
            <a:ext cx="3017520" cy="127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22402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Absence d'outil d'aide à la décision en temps réel pour les inspecteurs et chefs de chantier.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60720"/>
            <a:ext cx="11457432" cy="640080"/>
          </a:xfrm>
          <a:prstGeom prst="rect">
            <a:avLst/>
          </a:prstGeom>
          <a:solidFill>
            <a:srgbClr val="0D2A4A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💡  Solution proposée : GC Safety AI — système de prédiction automatique du niveau de risque combinant données structurées et rapports textuels d'inspection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🏗️  Types de Travaux &amp; Facteurs de Risque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Domaines couverts par le système de prédiction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840480" cy="40233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TYPE DE TRAVAUX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34440"/>
            <a:ext cx="5029200" cy="40233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3444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RISQUE DOMINANT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1234440"/>
            <a:ext cx="2377440" cy="40233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23444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NIVEAU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55064"/>
            <a:ext cx="384048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55064"/>
            <a:ext cx="502920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72600" y="1655064"/>
            <a:ext cx="237744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655064"/>
            <a:ext cx="50800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65506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Travaux en Hauteur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Chute de personne / objet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65506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alibri"/>
              </a:rPr>
              <a:t>CRITIQUE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75688"/>
            <a:ext cx="384048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075688"/>
            <a:ext cx="502920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2075688"/>
            <a:ext cx="237744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075688"/>
            <a:ext cx="50800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07568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Grutage &amp; Levage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07568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Effondrement, collision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07568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alibri"/>
              </a:rPr>
              <a:t>CRITIQUE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496312"/>
            <a:ext cx="384048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2496312"/>
            <a:ext cx="502920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72600" y="2496312"/>
            <a:ext cx="237744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496312"/>
            <a:ext cx="5080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49631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Excavation / Tranchée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249631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Éboulement, asphyxie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249631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5100"/>
                </a:solidFill>
                <a:latin typeface="Calibri"/>
              </a:rPr>
              <a:t>ÉLEVÉ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16936"/>
            <a:ext cx="384048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2916936"/>
            <a:ext cx="502920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72600" y="2916936"/>
            <a:ext cx="237744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2916936"/>
            <a:ext cx="5080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291693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Démolition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9392" y="291693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Projection, instabilité structurelle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291693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5100"/>
                </a:solidFill>
                <a:latin typeface="Calibri"/>
              </a:rPr>
              <a:t>ÉLEVÉ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337560"/>
            <a:ext cx="384048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3337560"/>
            <a:ext cx="502920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72600" y="3337560"/>
            <a:ext cx="237744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3337560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3337560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Coffrage / Béton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9392" y="333756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Chute, risque électrique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333756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MOYEN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58184"/>
            <a:ext cx="384048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60" y="3758184"/>
            <a:ext cx="502920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72600" y="3758184"/>
            <a:ext cx="237744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3758184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375818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VRD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79392" y="375818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Risque chimique, coupure de réseaux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375818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MOYEN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178808"/>
            <a:ext cx="384048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51960" y="4178808"/>
            <a:ext cx="502920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72600" y="4178808"/>
            <a:ext cx="237744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4178808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417880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Charpente / Toiture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79392" y="417880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Chute de hauteur, glissade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0032" y="41788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MOYEN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599432"/>
            <a:ext cx="384048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51960" y="4599432"/>
            <a:ext cx="502920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2600" y="4599432"/>
            <a:ext cx="237744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4599432"/>
            <a:ext cx="5080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45994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Fondation / Maçonnerie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392" y="459943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Effondrement partiel, surcharge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0032" y="459943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FAIBLE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020056"/>
            <a:ext cx="384048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51960" y="5020056"/>
            <a:ext cx="502920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72600" y="5020056"/>
            <a:ext cx="2377440" cy="402336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0040" y="5020056"/>
            <a:ext cx="5080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7472" y="502005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Soudure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79392" y="502005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Brûlures, fumes toxiques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00032" y="502005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FAIBLE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440680"/>
            <a:ext cx="384048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51960" y="5440680"/>
            <a:ext cx="502920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72600" y="5440680"/>
            <a:ext cx="2377440" cy="402336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5440680"/>
            <a:ext cx="5080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7472" y="5440680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Béton armé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544068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Projections, vibrations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00032" y="544068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FAIBLE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📡  Variables de Risque Instrumentées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Données structurées + NLP rapport d'inspection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 +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📊  Variables Structurées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2194560" cy="3657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Variable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645920"/>
            <a:ext cx="1828800" cy="3657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Seuil Alerte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645920"/>
            <a:ext cx="1828800" cy="3657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Seuil Critique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29968"/>
            <a:ext cx="219456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29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💨 Vent (km/h)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029968"/>
            <a:ext cx="182880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0299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&gt; 45 km/h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2029968"/>
            <a:ext cx="182880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299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&gt; 80 km/h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14016"/>
            <a:ext cx="2194560" cy="36576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4140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🌡️ Température (°C)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414016"/>
            <a:ext cx="1828800" cy="36576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4140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&lt; 5°C / &gt; 35°C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414016"/>
            <a:ext cx="1828800" cy="36576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4140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&lt; -10°C / &gt; 45°C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98064"/>
            <a:ext cx="219456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7980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🦺 EPI Manquants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798064"/>
            <a:ext cx="182880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7980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&gt;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2798064"/>
            <a:ext cx="182880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7980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≥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182112"/>
            <a:ext cx="2194560" cy="36576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182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👷 Effectif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182112"/>
            <a:ext cx="1828800" cy="36576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31821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&gt; 30 personnes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3182112"/>
            <a:ext cx="1828800" cy="36576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1821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566160"/>
            <a:ext cx="219456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📜 Risque Historique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566160"/>
            <a:ext cx="182880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8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&gt; 0.5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6280" y="3566160"/>
            <a:ext cx="1828800" cy="3657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&gt; 0.8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1234440"/>
            <a:ext cx="5212080" cy="502920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📝  Analyse NLP — Rapport d'Inspection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1783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🔍 Détection mots-clés métier GC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2057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harnais absent, chute d'objet,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23317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intervention urgente, canicule…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26517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📐 Regex extraction automatique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2926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vent à 95 km/h, 7 EPI manquants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200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effectif de 45 travailleurs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520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📊 TF-IDF Bigrams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7947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mesures préventives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4069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intervention corrective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4343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risque modéré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4663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⚖️ Alertes Code du Travail Tunisien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49377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  → Arrêt chantier automatique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Niveaux de Risque Définis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Classification en 4 niveaux — base du système de prédiction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5212080"/>
          </a:xfrm>
          <a:prstGeom prst="rect">
            <a:avLst/>
          </a:prstGeom>
          <a:solidFill>
            <a:srgbClr val="052A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432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FAIBLE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237744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  <a:latin typeface="Calibri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Conditions normales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Conformité satisfaisante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237744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  <a:latin typeface="Calibri"/>
              </a:rPr>
              <a:t>PLAN D'ACTION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Suivi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Visite planifiée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234440"/>
            <a:ext cx="2743200" cy="5212080"/>
          </a:xfrm>
          <a:prstGeom prst="rect">
            <a:avLst/>
          </a:prstGeom>
          <a:solidFill>
            <a:srgbClr val="2A1E0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234440"/>
            <a:ext cx="27432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MOYEN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240280"/>
            <a:ext cx="237744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Vigilance requise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Mesures préventives à envisager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383280"/>
            <a:ext cx="237744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PLAN D'ACTION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Visite de contrôle &lt; 15 jours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Rapport préventif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234440"/>
            <a:ext cx="2743200" cy="5212080"/>
          </a:xfrm>
          <a:prstGeom prst="rect">
            <a:avLst/>
          </a:prstGeom>
          <a:solidFill>
            <a:srgbClr val="2A12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234440"/>
            <a:ext cx="2743200" cy="635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100"/>
                </a:solidFill>
                <a:latin typeface="Calibri"/>
              </a:rPr>
              <a:t>ÉLEVÉ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240280"/>
            <a:ext cx="2377440" cy="127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5100"/>
                </a:solidFill>
                <a:latin typeface="Calibri"/>
              </a:rPr>
              <a:t>DESCRIPTION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Intervention corrective rapide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Non-conformités détectées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383280"/>
            <a:ext cx="237744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5100"/>
                </a:solidFill>
                <a:latin typeface="Calibri"/>
              </a:rPr>
              <a:t>PLAN D'ACTION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Action corrective &lt; 48h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Alerte chef de chantier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1234440"/>
            <a:ext cx="2743200" cy="5212080"/>
          </a:xfrm>
          <a:prstGeom prst="rect">
            <a:avLst/>
          </a:prstGeom>
          <a:solidFill>
            <a:srgbClr val="2A050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1234440"/>
            <a:ext cx="27432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  <a:latin typeface="Calibri"/>
              </a:rPr>
              <a:t>CRITIQUE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240280"/>
            <a:ext cx="2377440" cy="12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  <a:latin typeface="Calibri"/>
              </a:rPr>
              <a:t>DESCRIPTION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Arrêt de chantier immédiat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Évacuation possible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383280"/>
            <a:ext cx="237744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  <a:latin typeface="Calibri"/>
              </a:rPr>
              <a:t>PLAN D'ACTION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Arrêt immédiat + rapport ITT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Intervention d'urgence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⚙️  Architecture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Pipeline bout-en-bout : de la donnée brute à la décision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Pipeline ML+NLP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011680" cy="228600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01168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EF7"/>
                </a:solidFill>
                <a:latin typeface="Calibri"/>
              </a:rPr>
              <a:t>📥
Données
d'Entrée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6 variables
structurées + texte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011680"/>
            <a:ext cx="2011680" cy="228600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2011680"/>
            <a:ext cx="20116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🔧
Feature
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48+ features
NLP+GC lexicon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011680"/>
            <a:ext cx="2011680" cy="228600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2011680"/>
            <a:ext cx="20116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🤖
MLP Neural
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Best model
F1=88.84%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011680"/>
            <a:ext cx="2011680" cy="228600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2011680"/>
            <a:ext cx="201168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  <a:latin typeface="Calibri"/>
              </a:rPr>
              <a:t>🎯
Prédiction
+ Confiance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niveaux
de risque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011680"/>
            <a:ext cx="2011680" cy="228600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2011680"/>
            <a:ext cx="201168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EF7"/>
                </a:solidFill>
                <a:latin typeface="Calibri"/>
              </a:rPr>
              <a:t>📊
Dashboard
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Alertes +
Explicabilité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2971800"/>
            <a:ext cx="201168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2862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2971800"/>
            <a:ext cx="201168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862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2971800"/>
            <a:ext cx="201168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862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971800"/>
            <a:ext cx="201168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862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72000"/>
            <a:ext cx="5394960" cy="1280160"/>
          </a:xfrm>
          <a:prstGeom prst="rect">
            <a:avLst/>
          </a:prstGeom>
          <a:solidFill>
            <a:srgbClr val="0D1B35"/>
          </a:solidFill>
          <a:ln w="12700"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17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7"/>
                </a:solidFill>
                <a:latin typeface="Calibri"/>
              </a:rPr>
              <a:t>🔢 Flux A — Structuré : Normalisation · Flags GC · One-Hot · Score Composite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20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📝 Flux B — NLP : clean_text() · TF-IDF Bigrams · Lexique GC 20 indicateurs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754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366F1"/>
                </a:solidFill>
                <a:latin typeface="Calibri"/>
              </a:rPr>
              <a:t>⊕ 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🛠️  Stack Technologique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Technologies sélectionnées pour robustesse et reproductibilité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Python 3.10+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201168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618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COUCHE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261872"/>
            <a:ext cx="530352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261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TECHNOLOGIES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01168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37360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Langage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737360"/>
            <a:ext cx="530352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🐍 Python 3.10+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12848"/>
            <a:ext cx="201168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212848"/>
            <a:ext cx="50800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  <a:latin typeface="Calibri"/>
              </a:rPr>
              <a:t>ML / DL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212848"/>
            <a:ext cx="530352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22128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scikit-learn 1.8 · XGBoost 3.2 · imbalanced-learn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88336"/>
            <a:ext cx="201168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88336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68833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NLP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2688336"/>
            <a:ext cx="530352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688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NLTK 3.9 · TF-IDF (bigrams) · Regex · Lexique GC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63824"/>
            <a:ext cx="201168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163824"/>
            <a:ext cx="5080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1638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Explicabilité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3163824"/>
            <a:ext cx="530352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" y="31638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SHAP 0.51 · LIME 0.2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639312"/>
            <a:ext cx="201168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639312"/>
            <a:ext cx="50800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6393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  <a:latin typeface="Calibri"/>
              </a:rPr>
              <a:t>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3639312"/>
            <a:ext cx="530352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639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Streamlit 1.56 · Plotly 7.0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14800"/>
            <a:ext cx="201168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114800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Données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4114800"/>
            <a:ext cx="530352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4114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Pandas 3.0 · NumPy 2.4 · joblib 1.5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590288"/>
            <a:ext cx="201168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4590288"/>
            <a:ext cx="5080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5902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Stats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4590288"/>
            <a:ext cx="5303520" cy="45720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45902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SciPy 1.17 · statsmodels 0.14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065776"/>
            <a:ext cx="201168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065776"/>
            <a:ext cx="508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0657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Persistance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3160" y="5065776"/>
            <a:ext cx="5303520" cy="457200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8880" y="50657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.joblib — modèles sérialisés (random_state=42)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1234440"/>
            <a:ext cx="3840480" cy="5257800"/>
          </a:xfrm>
          <a:prstGeom prst="rect">
            <a:avLst/>
          </a:prstGeom>
          <a:solidFill>
            <a:srgbClr val="0D1B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📈  Chiffres Clés du Projet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17830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2 400+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Inspections dans le dataset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2331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48+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6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Features engineered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2880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7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Modèles évalués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3429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89.0 %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Accuracy du modèle champion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3977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88.84 %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4023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F1-Score (mesuré sur classes déséq.)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526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±1.2 %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Stabilité cross-validation k=5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5074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Niveaux de risque classifiés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5623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7"/>
                </a:solidFill>
                <a:latin typeface="Calibr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81160" y="5669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Modules dashboard déployés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🔧  Prétraitement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Imputation · Flags réglementaires GC · Winsorisation · Standardisation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Section 2 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486400" cy="77724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0800" cy="7772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8E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280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  <a:latin typeface="Calibri"/>
              </a:rPr>
              <a:t>Imputation Médiane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SimpleImputer(strategy='median')
Robuste aux outliers — aucune fuite de données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66544"/>
            <a:ext cx="5486400" cy="777240"/>
          </a:xfrm>
          <a:prstGeom prst="rect">
            <a:avLst/>
          </a:prstGeom>
          <a:solidFill>
            <a:srgbClr val="0F16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066544"/>
            <a:ext cx="5080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66544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122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6 Flags Binaires 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865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Créés AVANT winsorisation pour capturer
les vraies valeurs extrêmes réglementaires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98648"/>
            <a:ext cx="5486400" cy="77724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98648"/>
            <a:ext cx="50800" cy="7772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898648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10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944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  <a:latin typeface="Calibri"/>
              </a:rPr>
              <a:t>Winsorisation IQR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186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Bornes : Q1 – 1.5×IQR  /  Q3 + 1.5×IQR
Remplacement (pas suppression) des extrêmes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30752"/>
            <a:ext cx="5486400" cy="77724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30752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30752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76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Standardisation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0507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StandardScaler → μ=0 σ=1
Obligatoire pour MLP et distance-based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62856"/>
            <a:ext cx="5486400" cy="77724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562856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62856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085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One-Hot Encoding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8289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Type_Travaux → 7 colonnes binaires
Coffrage / Excavation / Grutage / Hauteur…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234440"/>
            <a:ext cx="5669280" cy="4983480"/>
          </a:xfrm>
          <a:prstGeom prst="rect">
            <a:avLst/>
          </a:prstGeom>
          <a:solidFill>
            <a:srgbClr val="0D1B3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🚩  6 Flags GC Réglementaires (EN 13000 + Code du Travail)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737360"/>
            <a:ext cx="5669280" cy="5943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737360"/>
            <a:ext cx="5080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773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5100"/>
                </a:solidFill>
                <a:latin typeface="Calibri"/>
              </a:rPr>
              <a:t>flag_vent_alerte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17739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alibri"/>
              </a:rPr>
              <a:t>Vent ≥ 45 km/h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17739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→ Arrêt grutage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20391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80"/>
                </a:solidFill>
                <a:latin typeface="Calibri"/>
              </a:rPr>
              <a:t>= 1 si vent ≥ 45 km/h, 0 sinon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368296"/>
            <a:ext cx="5669280" cy="5943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2368296"/>
            <a:ext cx="5080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2404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flag_vent_danger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4048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alibri"/>
              </a:rPr>
              <a:t>Vent ≥ 80 km/h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404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→ Arrêt 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2670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80"/>
                </a:solidFill>
                <a:latin typeface="Calibri"/>
              </a:rPr>
              <a:t>= 1 si vent ≥ 80 km/h, 0 sinon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2999232"/>
            <a:ext cx="5669280" cy="5943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2999232"/>
            <a:ext cx="50800" cy="59436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035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8EF7"/>
                </a:solidFill>
                <a:latin typeface="Calibri"/>
              </a:rPr>
              <a:t>flag_temp_froid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0358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alibri"/>
              </a:rPr>
              <a:t>Temp &lt; 5 °C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035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→ Hypothermie/verglas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33009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80"/>
                </a:solidFill>
                <a:latin typeface="Calibri"/>
              </a:rPr>
              <a:t>= 1 si temp &lt; 5 °c, 0 sinon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630168"/>
            <a:ext cx="5669280" cy="5943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3630168"/>
            <a:ext cx="508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3666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flag_temp_chaleur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36667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alibri"/>
              </a:rPr>
              <a:t>Temp &gt; 35 °C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3666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→ Coup de chaleur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3931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80"/>
                </a:solidFill>
                <a:latin typeface="Calibri"/>
              </a:rPr>
              <a:t>= 1 si temp &gt; 35 °c, 0 sinon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4261104"/>
            <a:ext cx="5669280" cy="5943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6480" y="4261104"/>
            <a:ext cx="5080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flag_epi_critique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4297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alibri"/>
              </a:rPr>
              <a:t>EPI ≥ 5 manquants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42976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→ Non-conformité DREAL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45628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80"/>
                </a:solidFill>
                <a:latin typeface="Calibri"/>
              </a:rPr>
              <a:t>= 1 si epi ≥ 5 manquants, 0 sinon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4892040"/>
            <a:ext cx="5669280" cy="594360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26480" y="4892040"/>
            <a:ext cx="5080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49286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5100"/>
                </a:solidFill>
                <a:latin typeface="Calibri"/>
              </a:rPr>
              <a:t>flag_effectif_eleve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49286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  <a:latin typeface="Calibri"/>
              </a:rPr>
              <a:t>Effectif &gt; 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49286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→ Ratio chef dégradé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51937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80"/>
                </a:solidFill>
                <a:latin typeface="Calibri"/>
              </a:rPr>
              <a:t>= 1 si effectif &gt; 30, 0 sinon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6263640"/>
            <a:ext cx="11521440" cy="38404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629107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5100"/>
                </a:solidFill>
                <a:latin typeface="Calibri"/>
              </a:rPr>
              <a:t>⚠️  Ordre critique : Flags créés sur données brutes → Winsorisation → Standardisation  |  Empêche la perte d'information réglementaire lors du clipping IQR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📊  Comparaison des Modèles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 algorithmes évalués — sélection par F1-Score pondéré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MLP ← Champion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320040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6187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Modèle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261872"/>
            <a:ext cx="173736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26187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261872"/>
            <a:ext cx="173736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26187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261872"/>
            <a:ext cx="173736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26187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Précision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61872"/>
            <a:ext cx="173736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26187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Rappel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773936"/>
            <a:ext cx="3200400" cy="475488"/>
          </a:xfrm>
          <a:prstGeom prst="rect">
            <a:avLst/>
          </a:prstGeom>
          <a:solidFill>
            <a:srgbClr val="0A1D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1773936"/>
            <a:ext cx="173736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4960" y="1773936"/>
            <a:ext cx="173736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773936"/>
            <a:ext cx="173736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773936"/>
            <a:ext cx="173736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1773936"/>
            <a:ext cx="508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77393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⭐ MLP Neural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1773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89.00%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1773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88.84%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773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88.70%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773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89.00%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286000"/>
            <a:ext cx="32004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2286000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94960" y="2286000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23760" y="2286000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2286000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2860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XGBoost (tuned)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22860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88.50%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22860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88.47%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2860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88.78%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2860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88.50%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798064"/>
            <a:ext cx="32004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66160" y="2798064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94960" y="2798064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23760" y="2798064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2798064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279806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Dual Stream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279806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89.00%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279806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88.40%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79806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88.29%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279806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89.00%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310128"/>
            <a:ext cx="32004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66160" y="3310128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94960" y="3310128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23760" y="3310128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3310128"/>
            <a:ext cx="173736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33101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Random Forest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33101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86.50%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33101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86.32%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33101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86.31%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33101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86.50%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822192"/>
            <a:ext cx="32004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66160" y="3822192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94960" y="3822192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23760" y="3822192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52560" y="3822192"/>
            <a:ext cx="173736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38221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Régression Log.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66160" y="38221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85.00%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0" y="38221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86.49%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38221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89.02%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38221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85.00%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  <a:latin typeface="Calibri"/>
              </a:rPr>
              <a:t>F1-Score comparatif (visuellement)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4709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MLP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88720" y="4745736"/>
            <a:ext cx="6498823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33263" y="4709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88.84%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50932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XGBoost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" y="5129784"/>
            <a:ext cx="6471757" cy="2743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06197" y="50932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  <a:latin typeface="Calibri"/>
              </a:rPr>
              <a:t>88.47%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" y="547725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Dual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720" y="5513832"/>
            <a:ext cx="6466636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01076" y="547725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88.40%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58613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" y="5897880"/>
            <a:ext cx="63144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48920" y="58613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86.32%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62453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Log.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88720" y="6281928"/>
            <a:ext cx="6326916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61356" y="62453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86.49%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63733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📌  Pourquoi le F1-Score ? Les classes sont déséquilibrées (peu de cas Critique) → le F1 est l'indicateur de référence, pas l'Accuracy.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🔄  Validation Croisée (k=5)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Robustesse et stabilité des algorithmes sur 5 partitions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k-Fold Stratifié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365760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6187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Algorithme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261872"/>
            <a:ext cx="182880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2618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F1 Moyen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261872"/>
            <a:ext cx="164592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2618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Stabilité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261872"/>
            <a:ext cx="2286000" cy="47548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6187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  <a:latin typeface="Calibri"/>
              </a:rPr>
              <a:t>Statut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73936"/>
            <a:ext cx="36576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9080" y="1773936"/>
            <a:ext cx="18288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773936"/>
            <a:ext cx="164592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1773936"/>
            <a:ext cx="22860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177393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XGBoost (tuned)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17739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F8EF7"/>
                </a:solidFill>
                <a:latin typeface="Calibri"/>
              </a:rPr>
              <a:t>89.97 %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77393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±1.7 %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7739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8EF7"/>
                </a:solidFill>
                <a:latin typeface="Calibri"/>
              </a:rPr>
              <a:t>Runner-up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286000"/>
            <a:ext cx="36576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80" y="2286000"/>
            <a:ext cx="18288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2286000"/>
            <a:ext cx="164592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2286000"/>
            <a:ext cx="22860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2860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22860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  <a:latin typeface="Calibri"/>
              </a:rPr>
              <a:t>88.55 %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28600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±1.9 %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2860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Backup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798064"/>
            <a:ext cx="365760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9080" y="2798064"/>
            <a:ext cx="182880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2798064"/>
            <a:ext cx="164592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79" y="2798064"/>
            <a:ext cx="2286000" cy="475488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2798064"/>
            <a:ext cx="508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279806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⭐ MLP Neural 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279806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85.36 %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279806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±1.2 %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27980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 Champion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310128"/>
            <a:ext cx="36576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69080" y="3310128"/>
            <a:ext cx="18288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310128"/>
            <a:ext cx="164592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3310128"/>
            <a:ext cx="2286000" cy="475488"/>
          </a:xfrm>
          <a:prstGeom prst="rect">
            <a:avLst/>
          </a:prstGeom>
          <a:solidFill>
            <a:srgbClr val="0F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331012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SVM (RBF)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33101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82.10 %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331012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±2.3 %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79" y="33101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Évalué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822192"/>
            <a:ext cx="36576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69080" y="3822192"/>
            <a:ext cx="18288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89320" y="3822192"/>
            <a:ext cx="164592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26679" y="3822192"/>
            <a:ext cx="2286000" cy="47548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38221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Log. Regression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9080" y="38221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78.40 %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382219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±2.1 %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38221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Référence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663440"/>
            <a:ext cx="11521440" cy="1371600"/>
          </a:xfrm>
          <a:prstGeom prst="rect">
            <a:avLst/>
          </a:prstGeom>
          <a:solidFill>
            <a:srgbClr val="0A1D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4709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💡  Pourquoi le MLP est sélectionné malgré un CV moyen légèrement inférieur à XGBoost 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✅  Meilleure stabilité : ±1.2% vs ±1.7% → moins de sur-apprentissage sur partitions difficiles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4589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✅  Supériorité sur les rapports textuels complexes (combinaison TF-IDF + structuré)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79729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✅  Performance test-set supérieure : 89.0% Accuracy vs 88.5% — validée sur données hors-échantillon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🔧 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Construction des 48+ variables — moteur de la prédiction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48+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2103120" cy="292608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210312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0759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EF7"/>
                </a:solidFill>
                <a:latin typeface="Calibri"/>
              </a:rPr>
              <a:t>🔢
5
Numériques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30552"/>
            <a:ext cx="1737360" cy="127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21992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StandardScaler
Effectif · Temp · Vent
EPI · Risque Hist.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61872"/>
            <a:ext cx="2103120" cy="2926080"/>
          </a:xfrm>
          <a:prstGeom prst="rect">
            <a:avLst/>
          </a:prstGeom>
          <a:solidFill>
            <a:srgbClr val="0F16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261872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30759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🚩
11
Flags Binaires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130552"/>
            <a:ext cx="173736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221992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Alertes météo
EPI critique
Effectif élevé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261872"/>
            <a:ext cx="2103120" cy="292608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1261872"/>
            <a:ext cx="21031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30759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🏗️
7
One-Hot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130552"/>
            <a:ext cx="1737360" cy="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221992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Type de travaux
Coffrage / Excav.
Grutage / Hauteur…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1261872"/>
            <a:ext cx="2103120" cy="292608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40" y="1261872"/>
            <a:ext cx="21031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30759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🔍
9
Régex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2130552"/>
            <a:ext cx="173736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2221992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Extraction texte
Vitesse vent / Temp.
Effectif / Urgence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1261872"/>
            <a:ext cx="2103120" cy="292608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64040" y="1261872"/>
            <a:ext cx="21031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130759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  <a:latin typeface="Calibri"/>
              </a:rPr>
              <a:t>📚
20
Lexique GC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2130552"/>
            <a:ext cx="1737360" cy="127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221992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Indicateurs binaires
Harnais · EPI · Vent
Risque_elev_txt…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343400"/>
            <a:ext cx="5394960" cy="1371600"/>
          </a:xfrm>
          <a:prstGeom prst="rect">
            <a:avLst/>
          </a:prstGeom>
          <a:solidFill>
            <a:srgbClr val="0D1B3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416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⚖️  Score Composite Pondéré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800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Risque Historique ×40%  +  EPI ×25%  +  Vent ×20%  +  Effectif ×10%  +  Température ×5%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212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 Signal composite unique synthétisant les 5 dimensions de risque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4343400"/>
            <a:ext cx="5943600" cy="1371600"/>
          </a:xfrm>
          <a:prstGeom prst="rect">
            <a:avLst/>
          </a:prstGeom>
          <a:solidFill>
            <a:srgbClr val="0D1B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44165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📝  TF-IDF Bigrams — Rapport d'Inspection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800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Top features : « mesures préventives » · « intervention corrective » · « risque modéré 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212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 50 features TF-IDF sélectionnées par importance sur corpus GC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🔍  Explicabilité des Prédictions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SHAP + LIME — Auditabilité totale requise par le cahier des charges Safety-First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SHAP 0.51 + LIME 0.2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486400" cy="493776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4864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📊  SHAP — TreeExplainer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5257800" cy="896112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19072"/>
            <a:ext cx="38100" cy="89611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64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Global (Summary Plot)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665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Top-20 features pour la classe Critique
Indique l'importance relative de chaque variable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79192"/>
            <a:ext cx="5257800" cy="896112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679192"/>
            <a:ext cx="38100" cy="89611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24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Local (Waterfall Plot)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266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Décortique 1 inspection individuelle
Contribution feature par feature à la décision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639312"/>
            <a:ext cx="5257800" cy="896112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639312"/>
            <a:ext cx="38100" cy="89611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Top facteurs Critique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867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alerte_vent · harnais_endommage
intervention_urgente · EPI_Manquants · Vent_kmh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690872"/>
            <a:ext cx="5257800" cy="502920"/>
          </a:xfrm>
          <a:prstGeom prst="rect">
            <a:avLst/>
          </a:prstGeom>
          <a:solidFill>
            <a:srgbClr val="0A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0B981"/>
                </a:solidFill>
                <a:latin typeface="Calibri"/>
              </a:rPr>
              <a:t>f(x) = φ₀ + Σ φᵢ xᵢ  (valeurs Shapley)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234440"/>
            <a:ext cx="5577840" cy="493776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234440"/>
            <a:ext cx="557784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🔬  LIME + Interprétation Métier GC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719072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LimeTabularExplainer entraîné sur X_train_res (SMOTE)
• Mode classification · 10 features explicatives
• Perturbation locale autour de l'instance cible
• Modèle linéaire approximant le MLP localement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788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7"/>
                </a:solidFill>
                <a:latin typeface="Calibri"/>
              </a:rPr>
              <a:t>📋  Interprétation Métier — Top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127248"/>
            <a:ext cx="5486400" cy="33832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127248"/>
            <a:ext cx="38100" cy="338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3163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Vent_kmh_scaled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163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↑ risque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16382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Arrêt grue &gt; 45 km/h (EN 13000)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493008"/>
            <a:ext cx="5486400" cy="33832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493008"/>
            <a:ext cx="38100" cy="338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35295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EPI_Manquants_scaled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5295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↑ risque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52958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Exposition directe vie humaine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858768"/>
            <a:ext cx="5486400" cy="33832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858768"/>
            <a:ext cx="38100" cy="3383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38953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alerte_vent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895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Flag txt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8953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Alerte auto chef de chantier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224528"/>
            <a:ext cx="5486400" cy="33832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4224528"/>
            <a:ext cx="38100" cy="338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63056" y="42611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harnais_endommage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2611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Flag txt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26110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Remplacement immédiat obligatoire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90288"/>
            <a:ext cx="5486400" cy="33832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4590288"/>
            <a:ext cx="38100" cy="3383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6" y="4626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intervention_urgente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6268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Flag txt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462686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Escalade responsable sécurité &lt;2h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956048"/>
            <a:ext cx="5486400" cy="338328"/>
          </a:xfrm>
          <a:prstGeom prst="rect">
            <a:avLst/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4956048"/>
            <a:ext cx="38100" cy="338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6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travail_hauteur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9926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Flag txt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499262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Habilitation + filet de sécurité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6263640"/>
            <a:ext cx="11521440" cy="384048"/>
          </a:xfrm>
          <a:prstGeom prst="rect">
            <a:avLst/>
          </a:prstGeom>
          <a:solidFill>
            <a:srgbClr val="0A1D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29107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✅  Conformité cahier des charges : chaque décision du modèle est traçable, explicable et actionnable → Validation terrain possible sans compétences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📊  Dashboard GC Safety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Application Streamlit — 4 modules opérationnels déployés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Streamlit 1.56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283464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283464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075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7"/>
                </a:solidFill>
                <a:latin typeface="Calibri"/>
              </a:rPr>
              <a:t>Analyse de Risque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2468880" cy="127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Prédiction IA temps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660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Mode scénario prédéfini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008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Comparaison de scénarios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355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Alertes réglementaires 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Radar &amp; jauge de confiance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261872"/>
            <a:ext cx="283464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1261872"/>
            <a:ext cx="2834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3075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Tableau de Bord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221992"/>
            <a:ext cx="24688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KPIs : inspections, critiques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2660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Heatmap risques × travaux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008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Top features 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355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Tendances temporelles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Filtres dynamiques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261872"/>
            <a:ext cx="283464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261872"/>
            <a:ext cx="2834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3075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366F1"/>
                </a:solidFill>
                <a:latin typeface="Calibri"/>
              </a:rPr>
              <a:t>Performance 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2221992"/>
            <a:ext cx="2468880" cy="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Métriques comparatives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2660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Validation croisée k=5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008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Architecture Dual-Stream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355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Notes méthodologiques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Graphiques Plotly interactifs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261872"/>
            <a:ext cx="2834640" cy="438912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35440" y="1261872"/>
            <a:ext cx="283464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13075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5100"/>
                </a:solidFill>
                <a:latin typeface="Calibri"/>
              </a:rPr>
              <a:t>Import / Export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2221992"/>
            <a:ext cx="2468880" cy="127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5168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Traitement batch 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2660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Export résultats annotés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3008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Rapport PDF généré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5168" y="3355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Historique des prédictions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5168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Téléchargement Excel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06440"/>
            <a:ext cx="11521440" cy="6400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8704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8EF7"/>
                </a:solidFill>
                <a:latin typeface="Calibri"/>
              </a:rPr>
              <a:t>🚀  Déploiement : Streamlit Cloud · Docker ready · API FastAPI intégrable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🏗️  Recommandations Opérationnelles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Plan d'action par niveau de risque — à destination des chefs de chantier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Côté GC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265176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26517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075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8EF7"/>
                </a:solidFill>
                <a:latin typeface="Calibri"/>
              </a:rPr>
              <a:t>📱
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562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Intégration au Protocole
d'Inspection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32304"/>
            <a:ext cx="2286000" cy="127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523744"/>
            <a:ext cx="2468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Saisir le rapport directement sur tablette après chaque visite chantier. L'IA prédit le niveau en &lt; 1 seconde.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261872"/>
            <a:ext cx="265176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261872"/>
            <a:ext cx="265176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3075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100"/>
                </a:solidFill>
                <a:latin typeface="Calibri"/>
              </a:rPr>
              <a:t>📋
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8562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Plan d'Action
par Niveau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432304"/>
            <a:ext cx="2286000" cy="127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2523744"/>
            <a:ext cx="2468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🟢 Faible → suivi standard
🟡 Moyen → visite contrôle &lt; 15j
🟠 Élevé → action corrective &lt; 48h
🔴 Critique → arrêt + rapport ITT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261872"/>
            <a:ext cx="265176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261872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3075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📈
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8562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Capitalisation
des Données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432304"/>
            <a:ext cx="228600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523744"/>
            <a:ext cx="2468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Chaque inspection annotée améliore les prédictions futures. Pipeline d'apprentissage continu intégré.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261872"/>
            <a:ext cx="265176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261872"/>
            <a:ext cx="265176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3075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  <a:latin typeface="Calibri"/>
              </a:rPr>
              <a:t>🎓
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8562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Formation
des Équipes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432304"/>
            <a:ext cx="2286000" cy="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2523744"/>
            <a:ext cx="2468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Former les chefs de chantier à la lecture des alertes réglementaires générées automatiquement (Code du Travail Tunisien).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⚙️  Recommandations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Roadmap d'amélioration du système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93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Côté Info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214884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214884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075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1907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EF7"/>
                </a:solidFill>
                <a:latin typeface="Calibri"/>
              </a:rPr>
              <a:t>Enrichissement
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13432"/>
            <a:ext cx="1965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Passer de 2 400 à 10 000+ inspections pour améliorer la robustesse sur les classes rares (Critique). Collecte automatisée via API.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84064"/>
            <a:ext cx="1645920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Court terme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261872"/>
            <a:ext cx="214884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1261872"/>
            <a:ext cx="21488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3075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171907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NLP Avancé
CamemBERT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313432"/>
            <a:ext cx="1965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Intégrer CamemBERT (optionnel — nécessite GPU) pour une analyse NLP plus fine des rapports rédigés en français.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5084064"/>
            <a:ext cx="16459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Moyen terme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79" y="1261872"/>
            <a:ext cx="214884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79" y="1261872"/>
            <a:ext cx="21488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13075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79" y="171907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CI/CD
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2313432"/>
            <a:ext cx="1965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Automatiser le ré-entraînement mensuel avec les nouvelles données collectées. Tests de régression automatiques.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9" y="5084064"/>
            <a:ext cx="1645920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9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Court terme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199" y="1261872"/>
            <a:ext cx="214884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199" y="1261872"/>
            <a:ext cx="21488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13075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171907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Monitoring
Data Drift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39" y="2313432"/>
            <a:ext cx="1965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Détecter la dérive de données (data drift) via alertes statistiques. Tableau de bord de monitoring MLOps.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799" y="5084064"/>
            <a:ext cx="16459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799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Moyen terme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19" y="1261872"/>
            <a:ext cx="2148840" cy="4206240"/>
          </a:xfrm>
          <a:prstGeom prst="rect">
            <a:avLst/>
          </a:prstGeom>
          <a:solidFill>
            <a:srgbClr val="0F162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46919" y="1261872"/>
            <a:ext cx="214884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19" y="13075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171907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  <a:latin typeface="Calibri"/>
              </a:rPr>
              <a:t>API REST
FastAPI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59" y="2313432"/>
            <a:ext cx="1965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Exposer le moteur de prédiction via FastAPI pour intégration dans des systèmes tiers (ERP BTP, logiciels de gestion de chantier).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19" y="5084064"/>
            <a:ext cx="16459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Long terme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81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🚀  Perspectives d'Évolution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Feuille de route 3 horizons — Court / Moyen / Long terme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475488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6576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Court terme
(&lt; 6 mois)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29184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☁️  Déploiement Streamlit Cloud / 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072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🔌  API REST FastAPI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191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📦  Docker + CI/CD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575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📊  Monitoring data drift actif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9593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📚  Enrichissement dataset 5 000+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343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🔄  Ré-entraînement automatique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34440"/>
            <a:ext cx="3657600" cy="475488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234440"/>
            <a:ext cx="3657600" cy="635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737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8EF7"/>
                </a:solidFill>
                <a:latin typeface="Calibri"/>
              </a:rPr>
              <a:t>Moyen terme
(6-18 mois)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331720"/>
            <a:ext cx="3291840" cy="127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🌡️  Capteurs IoT météo en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8072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🧠  CamemBERT NLP (GPU cloud)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191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📱  App mobile inspecteur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575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🔗  Intégration ERP BTP Tunisien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9593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🌍  Dataset multi-régions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343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📈  10 000+ inspections annotées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1234440"/>
            <a:ext cx="3657600" cy="475488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1234440"/>
            <a:ext cx="365760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1737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  <a:latin typeface="Calibri"/>
              </a:rPr>
              <a:t>Long terme
(18 mois+)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2331720"/>
            <a:ext cx="3291840" cy="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7928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🏢  Plateforme SaaS multi-chantiers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28072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🔒  Apprentissage fédéré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3191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Calibri"/>
              </a:rPr>
              <a:t>     (confidentialité entreprises)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3575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🤝  Partenariat CNAM Tunisie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39593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🌏  Extension Maghreb &amp; Afrique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4343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🏆  Certification ISO 45001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GC Safety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7"/>
                </a:solidFill>
                <a:latin typeface="Calibri"/>
              </a:rPr>
              <a:t>Un système opérationnel de prédiction du risque chantier par Intelligence Artificielle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1005840"/>
          </a:xfrm>
          <a:prstGeom prst="rect">
            <a:avLst/>
          </a:prstGeom>
          <a:solidFill>
            <a:srgbClr val="0A1D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0B981"/>
                </a:solidFill>
                <a:latin typeface="Calibri"/>
              </a:rPr>
              <a:t>" GC Safety AI démontre qu'un système hybride ML+NLP peut atteindre une précision de 89 % pour la prédiction du niveau de risque chantier — surpassant l'évaluation humaine non assistée en rapidité et en cohérence. 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3657600" cy="1920240"/>
          </a:xfrm>
          <a:prstGeom prst="rect">
            <a:avLst/>
          </a:prstGeom>
          <a:solidFill>
            <a:srgbClr val="0F1624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365760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8EF7"/>
                </a:solidFill>
                <a:latin typeface="Calibri"/>
              </a:rPr>
              <a:t>🏗️
Côté GC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04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Formalisation des critères de risque en variables quantifiables et actionnables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606040"/>
            <a:ext cx="3657600" cy="1920240"/>
          </a:xfrm>
          <a:prstGeom prst="rect">
            <a:avLst/>
          </a:prstGeom>
          <a:solidFill>
            <a:srgbClr val="0F1624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606040"/>
            <a:ext cx="36576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  <a:latin typeface="Calibri"/>
              </a:rPr>
              <a:t>💻
Côté 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2004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Pipeline complet MLOps : de la donnée brute au dashboard interactif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606040"/>
            <a:ext cx="3657600" cy="1920240"/>
          </a:xfrm>
          <a:prstGeom prst="rect">
            <a:avLst/>
          </a:prstGeom>
          <a:solidFill>
            <a:srgbClr val="0F16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606040"/>
            <a:ext cx="3657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🤝
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2004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Outil opérationnel prêt à l'emploi, extensible, documenté et déployable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74552" cy="25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89 %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88.84 %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  <a:latin typeface="Calibri"/>
              </a:rPr>
              <a:t>48+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  <a:latin typeface="Calibri"/>
              </a:rPr>
              <a:t>2 400+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Inspections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Modèles testés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Modules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ISET  ·  Projet de Fin d'Études 2024–2025  ·  Merci pour votre attention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